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Problem Statement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01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78638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984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PROBLEM STATEMENT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353312"/>
            <a:ext cx="78940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5F7FA"/>
                </a:solidFill>
                <a:latin typeface="Calibri"/>
              </a:rPr>
              <a:t>[ Paste the exact PS title + PS ID from the official portal — idea maps to themes on GNSS spoofing / assured sensor-information integrity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12848"/>
            <a:ext cx="11185855" cy="78638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128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267712"/>
            <a:ext cx="78940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5F7FA"/>
                </a:solidFill>
                <a:latin typeface="Calibri"/>
              </a:rPr>
              <a:t>Aerospace &amp; Defence  ·  confirm against the official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27248"/>
            <a:ext cx="11185855" cy="78638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1272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PS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182112"/>
            <a:ext cx="78940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5F7FA"/>
                </a:solidFill>
                <a:latin typeface="Calibri"/>
              </a:rPr>
              <a:t>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41648"/>
            <a:ext cx="11185855" cy="78638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416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TEAM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4096511"/>
            <a:ext cx="78940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5F7FA"/>
                </a:solidFill>
                <a:latin typeface="Calibri"/>
              </a:rPr>
              <a:t>[ your Team ID 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56048"/>
            <a:ext cx="11185855" cy="78638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9560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TEAM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5010912"/>
            <a:ext cx="78940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5F7FA"/>
                </a:solidFill>
                <a:latin typeface="Calibri"/>
              </a:rPr>
              <a:t>[ your Team Name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8873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A3B2C7"/>
                </a:solidFill>
                <a:latin typeface="Calibri"/>
              </a:rPr>
              <a:t>Fill Team ID, Team Name and the official PS title / ID exactly as on the portal before exporting.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11185855" cy="969264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716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PROJECT / IDEA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9344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5F7FA"/>
                </a:solidFill>
                <a:latin typeface="Calibri"/>
              </a:rPr>
              <a:t>TRUSTBATTLE</a:t>
            </a:r>
            <a:r>
              <a:rPr sz="1300" b="0" i="0">
                <a:solidFill>
                  <a:srgbClr val="A3B2C7"/>
                </a:solidFill>
                <a:latin typeface="Calibri"/>
              </a:rPr>
              <a:t>   —  AI-Driven Battlefield Information Integrity &amp; Trust Assessment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11858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00D1B2"/>
                </a:solidFill>
                <a:latin typeface="Calibri"/>
              </a:rPr>
              <a:t>“Don't just ask what the battlefield sensors are reporting — ask whether the information they report can be trusted.”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5349240" cy="148132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312724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PROBLEM BEING ADDRESSED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383280"/>
            <a:ext cx="48920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7FA"/>
                </a:solidFill>
                <a:latin typeface="Calibri"/>
              </a:rPr>
              <a:t>UAV, GNSS/IMU, visual and network data can be spoofed, replayed, injected, jammed or simply faulty — and a manipulated measurement can look perfectly legitimate. Operators see </a:t>
            </a:r>
            <a:r>
              <a:rPr sz="1150" b="1" i="1">
                <a:solidFill>
                  <a:srgbClr val="F5F7FA"/>
                </a:solidFill>
                <a:latin typeface="Calibri"/>
              </a:rPr>
              <a:t>what</a:t>
            </a:r>
            <a:r>
              <a:rPr sz="1150" b="0" i="0">
                <a:solidFill>
                  <a:srgbClr val="F5F7FA"/>
                </a:solidFill>
                <a:latin typeface="Calibri"/>
              </a:rPr>
              <a:t> sensors report, but not whether each individual observation is trustworthy right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3017520"/>
            <a:ext cx="5632704" cy="148132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12724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383280"/>
            <a:ext cx="5157216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7FA"/>
                </a:solidFill>
                <a:latin typeface="Calibri"/>
              </a:rPr>
              <a:t>An AI-assisted </a:t>
            </a:r>
            <a:r>
              <a:rPr sz="1150" b="1" i="0">
                <a:solidFill>
                  <a:srgbClr val="F5F7FA"/>
                </a:solidFill>
                <a:latin typeface="Calibri"/>
              </a:rPr>
              <a:t>Information Integrity Layer</a:t>
            </a:r>
            <a:r>
              <a:rPr sz="1150" b="0" i="0">
                <a:solidFill>
                  <a:srgbClr val="F5F7FA"/>
                </a:solidFill>
                <a:latin typeface="Calibri"/>
              </a:rPr>
              <a:t> between sensors and fusion. Every observation is scored 0–100 from five independent evidence streams — physical, temporal, cyber/network, cross-sensor and historical — suspicious sources are down-weighted in fusion, and the operator sees a plain-language evidence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001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KEY DIFFERENTIATORS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92624"/>
            <a:ext cx="2670048" cy="1170432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102352"/>
            <a:ext cx="234086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D1B2"/>
                </a:solidFill>
                <a:latin typeface="Calibri"/>
              </a:rPr>
              <a:t>Explainable 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Checklist of passing / failing checks — not a black-box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4992624"/>
            <a:ext cx="2670048" cy="1170432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5102352"/>
            <a:ext cx="234086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D1B2"/>
                </a:solidFill>
                <a:latin typeface="Calibri"/>
              </a:rPr>
              <a:t>Dynamic trust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Drops during anomalies, recovers after — no permanent blacklisting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992624"/>
            <a:ext cx="2670048" cy="1170432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5102352"/>
            <a:ext cx="234086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D1B2"/>
                </a:solidFill>
                <a:latin typeface="Calibri"/>
              </a:rPr>
              <a:t>Trust-aware fusion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Suspicious sources automatically down-weighted in the estimate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992624"/>
            <a:ext cx="2670048" cy="1170432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5102352"/>
            <a:ext cx="234086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D1B2"/>
                </a:solidFill>
                <a:latin typeface="Calibri"/>
              </a:rPr>
              <a:t>Honest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Integrity assessment — never claims “hacked” without sufficient 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TECHNOLOGIES / TOOLS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3B2C7"/>
                </a:solidFill>
                <a:latin typeface="Calibri"/>
              </a:rPr>
              <a:t>FRONTEND &amp;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React + Vite · Leaflet/Mapbox · Recharts/Plotly (dashboard)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Python FastAPI · REST + WebSocket real-time streaming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PostgreSQL (SQLite in dev) via 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3B2C7"/>
                </a:solidFill>
                <a:latin typeface="Calibri"/>
              </a:rPr>
              <a:t>AI / ML LIBRARIES &amp;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scikit-learn Isolation Forest — primary anomaly detector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One-Class SVM baseline · IF+OCSVM ensemble candidate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pandas / NumPy pipelines · LSTM / autoencoder 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22191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3B2C7"/>
                </a:solidFill>
                <a:latin typeface="Calibri"/>
              </a:rPr>
              <a:t>CLOUD &amp; DEPLOYMENT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59935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Modular Python packages driven by shared configs/settings.yaml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Deployable on any cloud VM / container platform (e.g. Docker)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5604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3B2C7"/>
                </a:solidFill>
                <a:latin typeface="Calibri"/>
              </a:rPr>
              <a:t>VERSION CONTROL &amp;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93792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Git / GitHub · per-module pytest suites (15 test files)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Frozen data contracts + change-request workflow (docs/contracts)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225296"/>
            <a:ext cx="62453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SYSTEM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554480"/>
            <a:ext cx="4965192" cy="50292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BATTLEFIELD SOURCES — GNSS · IMU · Visual · Telemetry/Network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499348" y="2093976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0840" y="2258568"/>
            <a:ext cx="3685032" cy="36576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FEATURE EXTRACTION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499348" y="2660904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0680" y="2825496"/>
            <a:ext cx="1993392" cy="68580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5F7FA"/>
                </a:solidFill>
                <a:latin typeface="Calibri"/>
              </a:rPr>
              <a:t>M1 · PHYSICAL</a:t>
            </a:r>
          </a:p>
          <a:p>
            <a:pPr algn="ctr"/>
            <a:r>
              <a:rPr sz="900" b="0" i="0">
                <a:solidFill>
                  <a:srgbClr val="A3B2C7"/>
                </a:solidFill>
                <a:latin typeface="Calibri"/>
              </a:rPr>
              <a:t>state consistency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6660" y="2825496"/>
            <a:ext cx="1993392" cy="68580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5F7FA"/>
                </a:solidFill>
                <a:latin typeface="Calibri"/>
              </a:rPr>
              <a:t>M2 · TEMPORAL</a:t>
            </a:r>
          </a:p>
          <a:p>
            <a:pPr algn="ctr"/>
            <a:r>
              <a:rPr sz="900" b="0" i="0">
                <a:solidFill>
                  <a:srgbClr val="A3B2C7"/>
                </a:solidFill>
                <a:latin typeface="Calibri"/>
              </a:rPr>
              <a:t>replay / timing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825496"/>
            <a:ext cx="1993392" cy="68580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F5F7FA"/>
                </a:solidFill>
                <a:latin typeface="Calibri"/>
              </a:rPr>
              <a:t>M4 · CYBER</a:t>
            </a:r>
          </a:p>
          <a:p>
            <a:pPr algn="ctr"/>
            <a:r>
              <a:rPr sz="900" b="0" i="0">
                <a:solidFill>
                  <a:srgbClr val="A3B2C7"/>
                </a:solidFill>
                <a:latin typeface="Calibri"/>
              </a:rPr>
              <a:t>network anomaly scenarios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499348" y="3547872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3712463"/>
            <a:ext cx="3685032" cy="36576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EVIDENCE ENGINE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499348" y="4114800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279392"/>
            <a:ext cx="4599432" cy="457200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00D1B2"/>
                </a:solidFill>
                <a:latin typeface="Calibri"/>
              </a:rPr>
              <a:t>OBSERVATION TRUST MODEL (0–100)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499348" y="4773168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40680" y="4937760"/>
            <a:ext cx="3017520" cy="566928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TRUSTED</a:t>
            </a:r>
          </a:p>
          <a:p>
            <a:pPr algn="ctr"/>
            <a:r>
              <a:rPr sz="950" b="0" i="0">
                <a:solidFill>
                  <a:srgbClr val="A3B2C7"/>
                </a:solidFill>
                <a:latin typeface="Calibri"/>
              </a:rPr>
              <a:t>→ robust fusion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68512" y="4937760"/>
            <a:ext cx="3017520" cy="566928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SUSPICIOUS</a:t>
            </a:r>
          </a:p>
          <a:p>
            <a:pPr algn="ctr"/>
            <a:r>
              <a:rPr sz="950" b="0" i="0">
                <a:solidFill>
                  <a:srgbClr val="A3B2C7"/>
                </a:solidFill>
                <a:latin typeface="Calibri"/>
              </a:rPr>
              <a:t>→ verification alert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499348" y="5541264"/>
            <a:ext cx="128016" cy="128016"/>
          </a:xfrm>
          <a:prstGeom prst="downArrow">
            <a:avLst/>
          </a:prstGeom>
          <a:solidFill>
            <a:srgbClr val="A3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20840" y="5705856"/>
            <a:ext cx="3685032" cy="384048"/>
          </a:xfrm>
          <a:prstGeom prst="roundRect">
            <a:avLst>
              <a:gd name="adj" fmla="val 14000"/>
            </a:avLst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EXPLAINABLE DASHBOARD (M5)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621024" cy="233172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26464"/>
            <a:ext cx="3255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TECHNICAL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19072"/>
            <a:ext cx="32186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Fully open-source, mature stack — pipeline already runs end-to-end (integration/run_demo.py)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No classified data: public GNSS spoofing datasets (TEXBAT) + synthetic attacks with known ground truth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Unsupervised Isolation Forest — no large labelled dataset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3964" y="1298448"/>
            <a:ext cx="3621024" cy="233172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5131" y="1426464"/>
            <a:ext cx="3255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OPERATIONAL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5131" y="1719072"/>
            <a:ext cx="32186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Adds one layer on top of existing sensor fusion — no sensor replacement, no workflow disruption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Operator-friendly output: trust %, green/amber/red states, plain-English evidence checklist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Alert thresholds are calibrated, tunable and explainable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298448"/>
            <a:ext cx="3621024" cy="233172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426464"/>
            <a:ext cx="3255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ECONOMIC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719072"/>
            <a:ext cx="32186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Zero licence cost — 100% open-source stack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Lightweight tree models train in seconds — commodity hardware, no GPU farm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F5F7FA"/>
                </a:solidFill>
                <a:latin typeface="Calibri"/>
              </a:rPr>
              <a:t>Simulation-first evaluation avoids costly physical test ranges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03904"/>
            <a:ext cx="11185855" cy="148132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93192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SCALABILITY &amp;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224528"/>
            <a:ext cx="107286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F5F7FA"/>
                </a:solidFill>
                <a:latin typeface="Calibri"/>
              </a:rPr>
              <a:t>Config-driven (YAML):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thresholds, weights &amp; check limits retunable without code changes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F5F7FA"/>
                </a:solidFill>
                <a:latin typeface="Calibri"/>
              </a:rPr>
              <a:t>Maintainable: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strictly separated modules, frozen data contracts + change-request governance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F5F7FA"/>
                </a:solidFill>
                <a:latin typeface="Calibri"/>
              </a:rPr>
              <a:t>Expansion roadmap: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V2 +Camera/EO → V3 +Radar → V4 multi-UAV → V5 edge deployment &amp; real 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68112"/>
            <a:ext cx="11185855" cy="8412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559552"/>
            <a:ext cx="10728655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107"/>
                </a:solidFill>
                <a:latin typeface="Calibri"/>
              </a:rPr>
              <a:t>PROOF POINT (controlled simulation, M2 module):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combined detector F1 = 1.00 across replay / telemetry-manipulation / network-anomaly scenarios, 0 false positives on 228 clean windows, detection latency ≤ 5 s (synthetic data — labelled as such).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2148840" cy="22128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426464"/>
            <a:ext cx="365760" cy="365760"/>
          </a:xfrm>
          <a:prstGeom prst="ellipse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1D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426464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F7FA"/>
                </a:solidFill>
                <a:latin typeface="Calibri"/>
              </a:rPr>
              <a:t>USER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1819656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Instant answer: “can I trust this observation now?”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0–100 score + evidence + recommended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298448"/>
            <a:ext cx="2148840" cy="22128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2" y="1426464"/>
            <a:ext cx="365760" cy="365760"/>
          </a:xfrm>
          <a:prstGeom prst="ellipse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1D3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426464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F7FA"/>
                </a:solidFill>
                <a:latin typeface="Calibri"/>
              </a:rPr>
              <a:t>SOCIAL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38528"/>
            <a:ext cx="1819656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Crew &amp; mission safety — decisions rest on verified information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Relevant to GNSS spoofing seen in real conflicts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0056" y="1298448"/>
            <a:ext cx="2148840" cy="22128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1426464"/>
            <a:ext cx="365760" cy="365760"/>
          </a:xfrm>
          <a:prstGeom prst="ellipse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1D3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426464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F7FA"/>
                </a:solidFill>
                <a:latin typeface="Calibri"/>
              </a:rPr>
              <a:t>ECONOMIC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1938528"/>
            <a:ext cx="1819656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Software-only layer over existing sensors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Prevents costly corrupted-data decisions; near-zero running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1298448"/>
            <a:ext cx="2148840" cy="22128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24928" y="1426464"/>
            <a:ext cx="365760" cy="365760"/>
          </a:xfrm>
          <a:prstGeom prst="ellipse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1D3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1426464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F7FA"/>
                </a:solidFill>
                <a:latin typeface="Calibri"/>
              </a:rPr>
              <a:t>ENVIRONMENTAL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1938528"/>
            <a:ext cx="1819656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Simulation-first development — no physical test ranges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Efficient models suit low-power edge hardware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7192" y="1298448"/>
            <a:ext cx="2148840" cy="2212848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83496" y="1426464"/>
            <a:ext cx="365760" cy="365760"/>
          </a:xfrm>
          <a:prstGeom prst="ellipse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1D3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0696" y="1426464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5F7FA"/>
                </a:solidFill>
                <a:latin typeface="Calibri"/>
              </a:rPr>
              <a:t>EFFICIENCY &amp; PRODUCTIVITY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4" y="1938528"/>
            <a:ext cx="1819656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Automates sensor-veracity cross-checking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950" b="0" i="0">
                <a:solidFill>
                  <a:srgbClr val="F5F7FA"/>
                </a:solidFill>
                <a:latin typeface="Calibri"/>
              </a:rPr>
              <a:t>≤5 s detection limits corruption spread; auto trust 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67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IMPACT PATHWAY</a:t>
            </a:r>
          </a:p>
        </p:txBody>
      </p:sp>
      <p:sp>
        <p:nvSpPr>
          <p:cNvPr id="28" name="Chevron 27"/>
          <p:cNvSpPr/>
          <p:nvPr/>
        </p:nvSpPr>
        <p:spPr>
          <a:xfrm>
            <a:off x="502920" y="4078224"/>
            <a:ext cx="2971800" cy="713232"/>
          </a:xfrm>
          <a:prstGeom prst="chevron">
            <a:avLst/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sz="1200" b="1" i="0">
                <a:solidFill>
                  <a:srgbClr val="00D1B2"/>
                </a:solidFill>
                <a:latin typeface="Calibri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0118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Unverifiable sensor data under spoofing / jamming / malfunction / deception</a:t>
            </a:r>
          </a:p>
        </p:txBody>
      </p:sp>
      <p:sp>
        <p:nvSpPr>
          <p:cNvPr id="30" name="Chevron 29"/>
          <p:cNvSpPr/>
          <p:nvPr/>
        </p:nvSpPr>
        <p:spPr>
          <a:xfrm>
            <a:off x="3246120" y="4078224"/>
            <a:ext cx="2971800" cy="713232"/>
          </a:xfrm>
          <a:prstGeom prst="chevron">
            <a:avLst/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sz="1200" b="1" i="0">
                <a:solidFill>
                  <a:srgbClr val="00D1B2"/>
                </a:solidFill>
                <a:latin typeface="Calibri"/>
              </a:rPr>
              <a:t>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490118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Multi-evidence integrity layer + dynamic trust + trust-aware fusion</a:t>
            </a:r>
          </a:p>
        </p:txBody>
      </p:sp>
      <p:sp>
        <p:nvSpPr>
          <p:cNvPr id="32" name="Chevron 31"/>
          <p:cNvSpPr/>
          <p:nvPr/>
        </p:nvSpPr>
        <p:spPr>
          <a:xfrm>
            <a:off x="5989320" y="4078224"/>
            <a:ext cx="2971800" cy="713232"/>
          </a:xfrm>
          <a:prstGeom prst="chevron">
            <a:avLst/>
          </a:prstGeom>
          <a:solidFill>
            <a:srgbClr val="132C52"/>
          </a:solidFill>
          <a:ln w="12700">
            <a:solidFill>
              <a:srgbClr val="00D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sz="1200" b="1" i="0">
                <a:solidFill>
                  <a:srgbClr val="00D1B2"/>
                </a:solidFill>
                <a:latin typeface="Calibri"/>
              </a:rPr>
              <a:t>IMMEDIATE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90118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Suspicious source down-weighted; evidence-backed alert; fusion stays accurate</a:t>
            </a:r>
          </a:p>
        </p:txBody>
      </p:sp>
      <p:sp>
        <p:nvSpPr>
          <p:cNvPr id="34" name="Chevron 33"/>
          <p:cNvSpPr/>
          <p:nvPr/>
        </p:nvSpPr>
        <p:spPr>
          <a:xfrm>
            <a:off x="8732520" y="4078224"/>
            <a:ext cx="2971800" cy="713232"/>
          </a:xfrm>
          <a:prstGeom prst="chevron">
            <a:avLst/>
          </a:prstGeom>
          <a:solidFill>
            <a:srgbClr val="132C52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0" bIns="0"/>
          <a:lstStyle/>
          <a:p>
            <a:pPr algn="ctr"/>
            <a:r>
              <a:rPr sz="1200" b="1" i="0">
                <a:solidFill>
                  <a:srgbClr val="FFC107"/>
                </a:solidFill>
                <a:latin typeface="Calibri"/>
              </a:rPr>
              <a:t>LONG-TERM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90118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Resilient, explainable information systems — transferable to AVs, drones, critical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RESEARCH / LITERATURE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532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F7FA"/>
                </a:solidFill>
                <a:latin typeface="Calibri"/>
              </a:rPr>
              <a:t>Programs &amp; doctrine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5532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U.S. Army SBIR program: “Ensuring Sensor Data Security and Integrity” — protecting sensor data across its lifecycle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India's SANJAY Battlefield Surveillance System — integrates ground/aerial sensors and confirms veracity before the common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5532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F7FA"/>
                </a:solidFill>
                <a:latin typeface="Calibri"/>
              </a:rPr>
              <a:t>Existing solutions &amp;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07791"/>
            <a:ext cx="5532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Anti-jam GNSS receivers / GPS firewalls, network intrusion detection, Kalman-style fusion — each covers one fragment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We combine physical + temporal + cyber + cross-sensor evidence into one observation-level trust score with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03904"/>
            <a:ext cx="5532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F7FA"/>
                </a:solidFill>
                <a:latin typeface="Calibri"/>
              </a:rPr>
              <a:t>Documented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41648"/>
            <a:ext cx="5532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GNSS spoofing &amp; jamming against UAVs in the Russia–Ukraine conflict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Decoys / electronic deception produce “valid but wrong” sensor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5532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F7FA"/>
                </a:solidFill>
                <a:latin typeface="Calibri"/>
              </a:rPr>
              <a:t>Datasets used for training /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75504"/>
            <a:ext cx="5532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UT Austin TEXBAT — public GPS spoofing test battery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D1B2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F5F7FA"/>
                </a:solidFill>
                <a:latin typeface="Calibri"/>
              </a:rPr>
              <a:t>Our synthetic UAV telemetry with ground-truth-labelled attacks (spoof / replay / telemetry-manip / network anomaly) at 0–30% corruption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243584"/>
            <a:ext cx="5330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5330952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1.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Liu, Ting &amp; Zhou — “Isolation Forest”,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IEEE ICDM, 2008.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2.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Schölkopf et al. — “Estimating the Support of a High-Dimensional Distribution”,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Neural Computation, 2001 (One-Class SVM).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3.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Humphreys et al. — UT Austin Radionavigation Lab: GPS civil-spoofer studies &amp; TEXBAT dataset,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radionavlab.ae.utexas.edu.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4.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U.S. Army SBIR topic: “Ensuring Sensor Data Security and Integrity”,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armysbir.com.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5.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Press Information Bureau — official releases on India's SANJAY Battlefield Surveillance System,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pib.gov.in.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6.  </a:t>
            </a:r>
            <a:r>
              <a:rPr sz="1100" b="0" i="0">
                <a:solidFill>
                  <a:srgbClr val="F5F7FA"/>
                </a:solidFill>
                <a:latin typeface="Calibri"/>
              </a:rPr>
              <a:t>Official documentation: </a:t>
            </a:r>
            <a:r>
              <a:rPr sz="1100" b="0" i="0">
                <a:solidFill>
                  <a:srgbClr val="A3B2C7"/>
                </a:solidFill>
                <a:latin typeface="Calibri"/>
              </a:rPr>
              <a:t>scikit-learn, FastAPI, React/Vite, Leaflet/Mapbox, Plotly/Recharts, WebSocket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Important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98448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298448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Use the real numbers, labelled honestly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quote F1 / FPR / latency as “controlled simulation results”, never as field-tested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11680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011680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Honesty guardrails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never claim “sensors are being hacked”, “nobody has solved this”, or “our AI proves the attack”.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24912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724912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24912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Diagrams over prose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layered architecture, trust drop/recovery curve (94% → 31% → 94%), M2 timeline graphs (appendix).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38144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438144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438144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One-line demo story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Normal (green, 94%) → spoofing injected → trust 31% + evidence → GNSS down-weighted → recovery to 94%.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51376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151376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151376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Consistent formatting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one font family, 2–3 colours, max ~6 bullets per slide, no decorative clip-art.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64608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864608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864608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Accuracy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Team ID, PS title/ID and team names must match the official portal before export.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77840"/>
            <a:ext cx="11185855" cy="640080"/>
          </a:xfrm>
          <a:prstGeom prst="roundRect">
            <a:avLst>
              <a:gd name="adj" fmla="val 7000"/>
            </a:avLst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577840"/>
            <a:ext cx="411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D1B2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5577840"/>
            <a:ext cx="102714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Calibri"/>
              </a:rPr>
              <a:t>Concise &amp; relevant — </a:t>
            </a:r>
            <a:r>
              <a:rPr sz="1200" b="0" i="0">
                <a:solidFill>
                  <a:srgbClr val="A3B2C7"/>
                </a:solidFill>
                <a:latin typeface="Calibri"/>
              </a:rPr>
              <a:t>every bullet earns its place; cut anything that doesn't answer what / why / how / so what.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0D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08415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5F7FA"/>
                </a:solidFill>
                <a:latin typeface="Calibri"/>
              </a:rPr>
              <a:t>Appendix — M2 Evaluation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91440"/>
            <a:ext cx="2148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D1B2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3B2C7"/>
                </a:solidFill>
                <a:latin typeface="Calibri"/>
              </a:rPr>
              <a:t>TRUSTBATTLE — AI-Driven Battlefield Information Integrity &amp; Trust Assessment Engine</a:t>
            </a:r>
          </a:p>
        </p:txBody>
      </p:sp>
      <p:pic>
        <p:nvPicPr>
          <p:cNvPr id="7" name="Picture 6" descr="m2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784" y="1325880"/>
            <a:ext cx="3690112" cy="2075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44728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Anomaly score distributions</a:t>
            </a:r>
          </a:p>
        </p:txBody>
      </p:sp>
      <p:pic>
        <p:nvPicPr>
          <p:cNvPr id="9" name="Picture 8" descr="m2_roc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623" y="1325880"/>
            <a:ext cx="4942114" cy="2075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44728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ROC &amp; precision-recall curves</a:t>
            </a:r>
          </a:p>
        </p:txBody>
      </p:sp>
      <p:pic>
        <p:nvPicPr>
          <p:cNvPr id="11" name="Picture 10" descr="m2_timeline_fallback_r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3977639"/>
            <a:ext cx="4670298" cy="20756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09904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Replay attack detection timeline</a:t>
            </a:r>
          </a:p>
        </p:txBody>
      </p:sp>
      <p:pic>
        <p:nvPicPr>
          <p:cNvPr id="13" name="Picture 12" descr="m2_timeline_fallback_network_anoma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531" y="3977639"/>
            <a:ext cx="4670298" cy="2075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609904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3B2C7"/>
                </a:solidFill>
                <a:latin typeface="Calibri"/>
              </a:rPr>
              <a:t>Network-anomaly detection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A3B2C7"/>
                </a:solidFill>
                <a:latin typeface="Calibri"/>
              </a:rPr>
              <a:t>Controlled-simulation results — regenerate with py -m member2_temporal.src.evaluate when real M4 scenario data lands.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