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jNtM0Ra/JPZNbRAXhrACfYUi0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2052827" y="-16002"/>
            <a:ext cx="5038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AITHON 2.0</a:t>
            </a:r>
            <a:endParaRPr b="0" i="0" sz="440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624327" y="824367"/>
            <a:ext cx="38953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r>
              <a:rPr b="1" i="0" lang="en-US" sz="16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</a:t>
            </a:r>
            <a:endParaRPr b="0" i="0" sz="160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13232" y="1965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AITHON 2.0 - Open Innovation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13232" y="244452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AI-Driven Battlefield Information Integrity &amp; Trust Assessment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13232" y="2883877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Aerospace &amp; Defence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13232" y="33375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Software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713232" y="3794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[ your Team ID ]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13232" y="4251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sz="1450">
                <a:latin typeface="Times New Roman"/>
              </a:rPr>
              <a:t>[ your Team Name ]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7413" y="96063"/>
            <a:ext cx="1663624" cy="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1563624" y="1066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05840" y="105156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/ IDEA NAME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005840" y="132588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sz="1250">
                <a:latin typeface="Times New Roman"/>
              </a:rPr>
              <a:t>TRUSTBATTLE - AI-Driven Battlefield Information Integrity &amp; Trust Assessment Engine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005840" y="189280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ONE-LINE TAGLINE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1005840" y="2167128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sz="1250">
                <a:latin typeface="Times New Roman"/>
              </a:rPr>
              <a:t>“Don't just ask what the battlefield sensors are reporting - ask whether the information they report can be trusted.”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005840" y="273405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BEING ADDRESSED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005840" y="3008376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sz="1100">
                <a:latin typeface="Times New Roman"/>
              </a:rPr>
              <a:t>UAV, GNSS/IMU, visual and network data can be spoofed, replayed, jammed or faulty - and a manipulated measurement can look perfectly legitimate. Operators see what sensors report, but not whether each observation is trustworthy right now.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005840" y="357530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005840" y="3849624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sz="1100">
                <a:latin typeface="Times New Roman"/>
              </a:rPr>
              <a:t>An AI-assisted Information Integrity Layer between sensors and fusion: every observation gets a 0-100 trust score from five evidence streams (physical, temporal, cyber, cross-sensor, historical); suspicious sources are down-weighted in fusion, with a plain-language evidence checklist for the operator.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6355080" y="10515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C0C0C"/>
                </a:solidFill>
                <a:latin typeface="Times New Roman"/>
              </a:rPr>
              <a:t>KEY DIFFERENTIATORS</a:t>
            </a:r>
          </a:p>
          <a:p>
            <a:pPr lvl="1"/>
            <a:r>
              <a:rPr sz="1000" b="0">
                <a:solidFill>
                  <a:srgbClr val="444444"/>
                </a:solidFill>
                <a:latin typeface="Times New Roman"/>
              </a:rPr>
              <a:t>Explainable evidence checklist, not a black-box score</a:t>
            </a:r>
          </a:p>
          <a:p>
            <a:pPr lvl="1"/>
            <a:r>
              <a:rPr sz="1000" b="0">
                <a:solidFill>
                  <a:srgbClr val="444444"/>
                </a:solidFill>
                <a:latin typeface="Times New Roman"/>
              </a:rPr>
              <a:t>Dynamic trust: drops in anomaly, recovers after - no permanent blacklisting</a:t>
            </a:r>
          </a:p>
          <a:p>
            <a:pPr lvl="1"/>
            <a:r>
              <a:rPr sz="1000" b="0">
                <a:solidFill>
                  <a:srgbClr val="444444"/>
                </a:solidFill>
                <a:latin typeface="Times New Roman"/>
              </a:rPr>
              <a:t>Trust-aware fusion: suspicious sources automatically down-weighted</a:t>
            </a:r>
          </a:p>
          <a:p>
            <a:pPr lvl="1"/>
            <a:r>
              <a:rPr sz="1000" b="0">
                <a:solidFill>
                  <a:srgbClr val="444444"/>
                </a:solidFill>
                <a:latin typeface="Times New Roman"/>
              </a:rPr>
              <a:t>Honest scope: integrity assessment, never claims “hacked” without 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551492" y="228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685800" y="1179195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/ TOOLS USED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685800" y="1600200"/>
            <a:ext cx="33375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React + Vite, Leaflet, Recharts; FastAPI, WebSocket, PostgreSQL</a:t>
            </a:r>
            <a:r>
              <a:t> 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ML libraries &amp; models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&amp; deployment tools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 &amp; CI/CD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scikit-learn Isolation Forest (primary), One-Class SVM, pandas/NumPy</a:t>
            </a:r>
            <a:r>
              <a:t> </a:t>
            </a: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modular Python packages on shared YAML config; any VM/host</a:t>
            </a:r>
            <a:r>
              <a:t> </a:t>
            </a: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Git/GitHub, pytest suites, frozen data contracts</a:t>
            </a:r>
            <a:r>
              <a:t> </a:t>
            </a:r>
          </a:p>
        </p:txBody>
      </p:sp>
      <p:sp>
        <p:nvSpPr>
          <p:cNvPr id="49" name="Google Shape;49;p3"/>
          <p:cNvSpPr txBox="1"/>
          <p:nvPr/>
        </p:nvSpPr>
        <p:spPr>
          <a:xfrm>
            <a:off x="5120640" y="1179195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5120640" y="1627632"/>
            <a:ext cx="33375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M1 Physical, M2 Temporal, M4 Cyber -&gt; M3 Trust Engine -&gt; M5 Dashboard</a:t>
            </a:r>
            <a:r>
              <a:t> 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components for core logic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Database, API &amp; cloud integration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Secure, scalable request flow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Isolation Forest detectors -&gt; Evidence Engine -&gt; Trust Model (0-100)</a:t>
            </a:r>
            <a:r>
              <a:t> </a:t>
            </a: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stateless FastAPI + WebSocket push, SQLAlchemy to PostgreSQL</a:t>
            </a:r>
            <a:r>
              <a:t> </a:t>
            </a: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calibrated thresholds; public datasets + controlled simulation</a:t>
            </a:r>
            <a:r>
              <a:t> </a:t>
            </a:r>
          </a:p>
        </p:txBody>
      </p:sp>
      <p:sp>
        <p:nvSpPr>
          <p:cNvPr id="51" name="Google Shape;51;p3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6277356" y="4174236"/>
            <a:ext cx="64008" cy="64008"/>
          </a:xfrm>
          <a:prstGeom prst="ellipse">
            <a:avLst/>
          </a:prstGeom>
          <a:solidFill>
            <a:srgbClr val="1E276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463040" y="5107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31520" y="1269091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31520" y="182880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fully open-source stack; pipeline already runs end-to-end (integration/run_demo.py)</a:t>
            </a:r>
            <a:r>
              <a:t> 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requirements &amp; resources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public GNSS datasets (TEXBAT) + synthetic attacks with ground truth; unsupervised IF needs no big labelled set</a:t>
            </a:r>
            <a:r>
              <a:t> </a:t>
            </a:r>
          </a:p>
        </p:txBody>
      </p:sp>
      <p:sp>
        <p:nvSpPr>
          <p:cNvPr id="63" name="Google Shape;63;p4"/>
          <p:cNvSpPr txBox="1"/>
          <p:nvPr/>
        </p:nvSpPr>
        <p:spPr>
          <a:xfrm>
            <a:off x="4846320" y="1269091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846320" y="182880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one layer on top of existing fusion - no sensor replacement</a:t>
            </a:r>
            <a:r>
              <a:t> 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of adoption by users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trust %, green/amber/red states, plain-English evidence checklist</a:t>
            </a:r>
            <a:r>
              <a:t> </a:t>
            </a:r>
          </a:p>
        </p:txBody>
      </p:sp>
      <p:sp>
        <p:nvSpPr>
          <p:cNvPr id="65" name="Google Shape;65;p4"/>
          <p:cNvSpPr txBox="1"/>
          <p:nvPr/>
        </p:nvSpPr>
        <p:spPr>
          <a:xfrm>
            <a:off x="731520" y="2558395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31520" y="3090672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zero licence fees - 100% open-source</a:t>
            </a:r>
            <a:r>
              <a:t> 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/ resource requirements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lightweight models train in seconds on commodity hardware; simulation-first avoids test-range costs</a:t>
            </a:r>
            <a:r>
              <a:t> </a:t>
            </a:r>
          </a:p>
        </p:txBody>
      </p:sp>
      <p:sp>
        <p:nvSpPr>
          <p:cNvPr id="67" name="Google Shape;67;p4"/>
          <p:cNvSpPr txBox="1"/>
          <p:nvPr/>
        </p:nvSpPr>
        <p:spPr>
          <a:xfrm>
            <a:off x="4846320" y="2559197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&amp; SUSTAINABILITY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4846320" y="3097249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V2 +Camera/EO -&gt; V3 +Radar -&gt; V4 multi-UAV -&gt; V5 edge &amp; real hardware</a:t>
            </a:r>
            <a:r>
              <a:t> 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usability, maintenance &amp; scalability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50" b="1">
                <a:solidFill>
                  <a:srgbClr val="0C0C0C"/>
                </a:solidFill>
                <a:latin typeface="Times New Roman"/>
              </a:rPr>
              <a:t> config-driven tuning; versioned data contracts + change-request governance keep it maintainable</a:t>
            </a:r>
            <a:r>
              <a:t> </a:t>
            </a:r>
          </a:p>
        </p:txBody>
      </p:sp>
      <p:sp>
        <p:nvSpPr>
          <p:cNvPr id="69" name="Google Shape;69;p4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/>
        </p:nvSpPr>
        <p:spPr>
          <a:xfrm>
            <a:off x="1463040" y="9385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621792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115568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Benefits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374136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3374136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3867912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126480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6126480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620256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1792" y="2263140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621792" y="22631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1115568" y="2020824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374136" y="2263140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3374136" y="22631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3867912" y="2020824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&amp; Productivity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457200" y="28803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PATHWAY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04088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704088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505456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2688336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2688336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489704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672584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4672584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473952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656832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6656832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704088" y="4133087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44444"/>
                </a:solidFill>
                <a:latin typeface="Times New Roman"/>
              </a:rPr>
              <a:t>Unverifiable sensor data: spoofing / jamming / malfunction / deception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88336" y="4133087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44444"/>
                </a:solidFill>
                <a:latin typeface="Times New Roman"/>
              </a:rPr>
              <a:t>Multi-evidence integrity layer + dynamic trust + trust-aware fusion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72584" y="4133087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44444"/>
                </a:solidFill>
                <a:latin typeface="Times New Roman"/>
              </a:rPr>
              <a:t>Suspicious source down-weighted; evidence-backed alert; fusion stays accurate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56832" y="4133087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44444"/>
                </a:solidFill>
                <a:latin typeface="Times New Roman"/>
              </a:rPr>
              <a:t>Resilient, explainable systems - transferable to AVs, drones, critical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364566" y="8071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685800" y="128016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/ LITERATURE SURVEY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685800" y="1691640"/>
            <a:ext cx="3337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Liu et al., “Isolation Forest” (IEEE ICDM 2008); Schölkopf et al., One-Class SVM (Neural Computation 2001)</a:t>
            </a:r>
            <a:r>
              <a:t> 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&amp; products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reports &amp; market studies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used for training / testing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anti-jam GNSS / GPS firewalls, NIDS, Kalman fusion - each covers one fragment only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U.S. Army SBIR “Ensuring Sensor Data Security &amp; Integrity”; India's SANJAY battlefield surveillance system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GNSS spoofing vs UAVs in the Russia-Ukraine conflict; decoys &amp; electronic deception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UT Austin TEXBAT GPS spoofing battery; our synthetic UAV telemetry with labelled attacks at 0-30% corruption</a:t>
            </a:r>
            <a:r>
              <a:t> </a:t>
            </a:r>
          </a:p>
        </p:txBody>
      </p:sp>
      <p:sp>
        <p:nvSpPr>
          <p:cNvPr id="116" name="Google Shape;116;p6"/>
          <p:cNvSpPr txBox="1"/>
          <p:nvPr/>
        </p:nvSpPr>
        <p:spPr>
          <a:xfrm>
            <a:off x="4663440" y="128016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4663440" y="1691640"/>
            <a:ext cx="3887001" cy="146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Liu, Ting &amp; Zhou, “Isolation Forest”, IEEE ICDM, 2008.</a:t>
            </a:r>
            <a:r>
              <a:t> 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websites &amp; documentation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 / SDKs referenced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/ official data sources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Schölkopf et al., Neural Computation, 2001 (One-Class SVM).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Humphreys et al., UT Austin Radionavigation Lab - TEXBAT (radionavlab.ae.utexas.edu).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U.S. Army SBIR topic (armysbir.com).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PIB releases on SANJAY (pib.gov.in).</a:t>
            </a:r>
            <a:r>
              <a:t> </a:t>
            </a:r>
          </a:p>
          <a:p>
            <a:pPr>
              <a:buChar char="•"/>
            </a:pPr>
            <a:r>
              <a:rPr sz="1000" b="1">
                <a:solidFill>
                  <a:srgbClr val="0C0C0C"/>
                </a:solidFill>
                <a:latin typeface="Times New Roman"/>
              </a:rPr>
              <a:t> Official docs: scikit-learn, FastAPI, React/Vite, Leaflet.</a:t>
            </a:r>
            <a:r>
              <a:t> </a:t>
            </a: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1636776" y="7781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2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896112" y="1097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all information concise and relevant.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896112" y="166420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explain the problem and proposed solution.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896112" y="2231136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authentic research and reliable references.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896112" y="2798064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technical claims are realistic and implementable.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4873752" y="1097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consistency in fonts, colors, and formatting.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4873752" y="166420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diagrams / flowcharts wherever they improve understanding.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4873752" y="271576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unnecessary text and decorative elements.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873752" y="2176272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all team / project information is accurate.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2026-09-05T05:55:12Z</dcterms:created>
  <dc:creator>PptxGenJS</dc:creator>
</cp:coreProperties>
</file>